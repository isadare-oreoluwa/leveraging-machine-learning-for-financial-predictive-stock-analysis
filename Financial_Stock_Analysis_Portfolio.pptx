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C0524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2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8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8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8C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88C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A88C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A88C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A97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Linear Regression</c:v>
                  </c:pt>
                  <c:pt idx="1">
                    <c:v>Ridge</c:v>
                  </c:pt>
                  <c:pt idx="2">
                    <c:v>Elastic Net</c:v>
                  </c:pt>
                  <c:pt idx="3">
                    <c:v>Lasso</c:v>
                  </c:pt>
                  <c:pt idx="4">
                    <c:v>MLP</c:v>
                  </c:pt>
                  <c:pt idx="5">
                    <c:v>Gradient Boosting</c:v>
                  </c:pt>
                  <c:pt idx="6">
                    <c:v>XGBoost</c:v>
                  </c:pt>
                  <c:pt idx="7">
                    <c:v>Random Forest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-0.085</c:v>
                </c:pt>
                <c:pt idx="1">
                  <c:v>0.02</c:v>
                </c:pt>
                <c:pt idx="2">
                  <c:v>0.045</c:v>
                </c:pt>
                <c:pt idx="3">
                  <c:v>0.048</c:v>
                </c:pt>
                <c:pt idx="4">
                  <c:v>0.132</c:v>
                </c:pt>
                <c:pt idx="5">
                  <c:v>0.184</c:v>
                </c:pt>
                <c:pt idx="6">
                  <c:v>0.203</c:v>
                </c:pt>
                <c:pt idx="7">
                  <c:v>0.225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2"/>
                    </a:solidFill>
                    <a:latin typeface="Arial"/>
                  </a:rPr>
                  <a:t>R² (higher is better)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B"/>
        </a:solidFill>
        <a:ln>
          <a:noFill/>
        </a:ln>
        <a:effectLst/>
      </c:spPr>
    </c:plotArea>
    <c:plotVisOnly val="1"/>
    <c:dispBlanksAs val="span"/>
  </c:chart>
  <c:spPr>
    <a:solidFill>
      <a:srgbClr val="F7F8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9FB0E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0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0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0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0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FB0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A88C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A6BC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A97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efficiency_score</c:v>
                  </c:pt>
                  <c:pt idx="1">
                    <c:v>EPS growth 3Yrs</c:v>
                  </c:pt>
                  <c:pt idx="2">
                    <c:v>ATO</c:v>
                  </c:pt>
                  <c:pt idx="3">
                    <c:v>OPM</c:v>
                  </c:pt>
                  <c:pt idx="4">
                    <c:v>PEG Ratio</c:v>
                  </c:pt>
                  <c:pt idx="5">
                    <c:v>ROA</c:v>
                  </c:pt>
                  <c:pt idx="6">
                    <c:v>de_ratio</c:v>
                  </c:pt>
                  <c:pt idx="7">
                    <c:v>ROCE_capped</c:v>
                  </c:pt>
                  <c:pt idx="8">
                    <c:v>Market Capitalization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0.026</c:v>
                </c:pt>
                <c:pt idx="1">
                  <c:v>0.027</c:v>
                </c:pt>
                <c:pt idx="2">
                  <c:v>0.027</c:v>
                </c:pt>
                <c:pt idx="3">
                  <c:v>0.036</c:v>
                </c:pt>
                <c:pt idx="4">
                  <c:v>0.061</c:v>
                </c:pt>
                <c:pt idx="5">
                  <c:v>0.119</c:v>
                </c:pt>
                <c:pt idx="6">
                  <c:v>0.133</c:v>
                </c:pt>
                <c:pt idx="7">
                  <c:v>0.255</c:v>
                </c:pt>
                <c:pt idx="8">
                  <c:v>0.316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2"/>
                    </a:solidFill>
                    <a:latin typeface="Arial"/>
                  </a:rPr>
                  <a:t>Relative importance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B"/>
        </a:solidFill>
        <a:ln>
          <a:noFill/>
        </a:ln>
        <a:effectLst/>
      </c:spPr>
    </c:plotArea>
    <c:plotVisOnly val="1"/>
    <c:dispBlanksAs val="span"/>
  </c:chart>
  <c:spPr>
    <a:solidFill>
      <a:srgbClr val="F7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84048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8961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Financial &amp;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Stock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drivers of quarterly stock price change across ~3,000 company-quarter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using classical statistics and machine learning ensembles.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4892040"/>
            <a:ext cx="793699" cy="384048"/>
          </a:xfrm>
          <a:prstGeom prst="roundRect">
            <a:avLst>
              <a:gd name="adj" fmla="val 19048"/>
            </a:avLst>
          </a:prstGeom>
          <a:solidFill>
            <a:srgbClr val="141B4D"/>
          </a:solidFill>
          <a:ln w="12700">
            <a:solidFill>
              <a:srgbClr val="3C4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892040"/>
            <a:ext cx="793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44091" y="4892040"/>
            <a:ext cx="1331366" cy="384048"/>
          </a:xfrm>
          <a:prstGeom prst="roundRect">
            <a:avLst>
              <a:gd name="adj" fmla="val 19048"/>
            </a:avLst>
          </a:prstGeom>
          <a:solidFill>
            <a:srgbClr val="141B4D"/>
          </a:solidFill>
          <a:ln w="12700">
            <a:solidFill>
              <a:srgbClr val="3C4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4091" y="4892040"/>
            <a:ext cx="1331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40050" y="4892040"/>
            <a:ext cx="883310" cy="384048"/>
          </a:xfrm>
          <a:prstGeom prst="roundRect">
            <a:avLst>
              <a:gd name="adj" fmla="val 19048"/>
            </a:avLst>
          </a:prstGeom>
          <a:solidFill>
            <a:srgbClr val="141B4D"/>
          </a:solidFill>
          <a:ln w="12700">
            <a:solidFill>
              <a:srgbClr val="3C4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0050" y="4892040"/>
            <a:ext cx="88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87952" y="4892040"/>
            <a:ext cx="793699" cy="384048"/>
          </a:xfrm>
          <a:prstGeom prst="roundRect">
            <a:avLst>
              <a:gd name="adj" fmla="val 19048"/>
            </a:avLst>
          </a:prstGeom>
          <a:solidFill>
            <a:srgbClr val="141B4D"/>
          </a:solidFill>
          <a:ln w="12700">
            <a:solidFill>
              <a:srgbClr val="3C4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4892040"/>
            <a:ext cx="793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46243" y="4892040"/>
            <a:ext cx="1420978" cy="384048"/>
          </a:xfrm>
          <a:prstGeom prst="roundRect">
            <a:avLst>
              <a:gd name="adj" fmla="val 19048"/>
            </a:avLst>
          </a:prstGeom>
          <a:solidFill>
            <a:srgbClr val="141B4D"/>
          </a:solidFill>
          <a:ln w="12700">
            <a:solidFill>
              <a:srgbClr val="3C4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6243" y="4892040"/>
            <a:ext cx="142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dataset: Kaggle — Indian equities financial &amp; market data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B93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&amp; exploratory analysis of financial and operational indicators to surface patterns and relationships.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B93A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3692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9369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93592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33832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non-linear modeling to identify the strongest drivers of quarterly stock price change.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B93A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55764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5576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55664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01384" y="33832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forward-looking, data-driven predictions of stock performance from the latest company snapshot.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B93A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17836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11783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17736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63456" y="33832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model output into actionable, ranked guidance for investors.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combines classical statistical methods with modern machine learning to demonstrate a complete, reproducible analytics workflow — from raw data to investment-ready output.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Predictive Stock Analysis  •  Portfolio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financial dataset spanning statements, ratios &amp; market prices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company-quarter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10712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47872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72784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 / T1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9944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&amp;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market-price time points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34856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72016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(missing data)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5486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ROCE_capped — Return on Capital Employed (outlier-capped)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OPM — Operating Profit Margin (%)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— Asset Turnover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— Return on Assets (%)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de_ratio — Debt-to-Equity Ratio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growth 3Years — 3-year EPS growth (%)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Ratio — Price/Earnings-to-Growth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Capitalization — total market cap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efficiency_score — composite operational efficiency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3566160"/>
            <a:ext cx="52120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B93A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3749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4114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price_change_%  —  quarterly percentage change in stock price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4617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95604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capping on ROCE and market capitalization to reduce skew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company identifiers retained for grouping, not modeling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linear models &amp; MLP; optional for tree ensembles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Predictive Stock Analysis  •  Portfolio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Analysis: What Correlates With What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correlation strength (|r| ≥ 0.3 threshold), on a scale of -1 to 1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ROCE_capped ↔ Return on Assets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0" y="2057400"/>
            <a:ext cx="1737360" cy="20116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2057400"/>
            <a:ext cx="1494130" cy="201168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7" name="Text 5"/>
          <p:cNvSpPr/>
          <p:nvPr/>
        </p:nvSpPr>
        <p:spPr>
          <a:xfrm>
            <a:off x="6876288" y="1874520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41448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 ↔ Working Capital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624328"/>
            <a:ext cx="1737360" cy="20116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2624328"/>
            <a:ext cx="1181405" cy="201168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1" name="Text 9"/>
          <p:cNvSpPr/>
          <p:nvPr/>
        </p:nvSpPr>
        <p:spPr>
          <a:xfrm>
            <a:off x="6876288" y="2441448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08376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ROCE_capped ↔ Return on Equity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191256"/>
            <a:ext cx="1737360" cy="20116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3191256"/>
            <a:ext cx="1007669" cy="201168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5" name="Text 13"/>
          <p:cNvSpPr/>
          <p:nvPr/>
        </p:nvSpPr>
        <p:spPr>
          <a:xfrm>
            <a:off x="6876288" y="3008376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75304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 ↔ Return on Assets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758184"/>
            <a:ext cx="1737360" cy="20116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3758184"/>
            <a:ext cx="903427" cy="201168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9" name="Text 17"/>
          <p:cNvSpPr/>
          <p:nvPr/>
        </p:nvSpPr>
        <p:spPr>
          <a:xfrm>
            <a:off x="6876288" y="3575304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42232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Growth (3yr) ↔ Sales Growth (3yr)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4325112"/>
            <a:ext cx="1737360" cy="20116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0" y="4325112"/>
            <a:ext cx="521208" cy="20116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4142232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price_change_% ↔ ROCE_capped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4892040"/>
            <a:ext cx="1737360" cy="20116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0" y="4892040"/>
            <a:ext cx="521208" cy="201168"/>
          </a:xfrm>
          <a:prstGeom prst="rect">
            <a:avLst/>
          </a:prstGeom>
          <a:solidFill>
            <a:srgbClr val="C0524A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4709160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276088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price_change_% ↔ Return on Assets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5458968"/>
            <a:ext cx="1737360" cy="20116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5458968"/>
            <a:ext cx="573329" cy="201168"/>
          </a:xfrm>
          <a:prstGeom prst="rect">
            <a:avLst/>
          </a:prstGeom>
          <a:solidFill>
            <a:srgbClr val="C0524A"/>
          </a:solidFill>
          <a:ln/>
        </p:spPr>
      </p:sp>
      <p:sp>
        <p:nvSpPr>
          <p:cNvPr id="31" name="Text 29"/>
          <p:cNvSpPr/>
          <p:nvPr/>
        </p:nvSpPr>
        <p:spPr>
          <a:xfrm>
            <a:off x="6876288" y="5276088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0" y="1874520"/>
            <a:ext cx="2926080" cy="3977640"/>
          </a:xfrm>
          <a:prstGeom prst="roundRect">
            <a:avLst>
              <a:gd name="adj" fmla="val 2813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91540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15400" y="25146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metrics (ROCE, ROA, ROE, EPS growth) move tightly together. But price_change_% correlates only weakly — and negatively — with ROCE and ROA.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profitability alone doesn't guarantee near-term price gains, pointing to non-linear, multi-factor market behavior.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Predictive Stock Analysis  •  Portfolio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Leverage Predict Financial Health?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 ratio correlation with core performance metrics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After Tax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0" y="2139696"/>
            <a:ext cx="3108960" cy="18288"/>
          </a:xfrm>
          <a:prstGeom prst="rect">
            <a:avLst/>
          </a:prstGeom>
          <a:solidFill>
            <a:srgbClr val="C7CED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2130552"/>
            <a:ext cx="1437894" cy="201168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7" name="Text 5"/>
          <p:cNvSpPr/>
          <p:nvPr/>
        </p:nvSpPr>
        <p:spPr>
          <a:xfrm>
            <a:off x="6720840" y="192024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+0.370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761488"/>
            <a:ext cx="3108960" cy="18288"/>
          </a:xfrm>
          <a:prstGeom prst="rect">
            <a:avLst/>
          </a:prstGeom>
          <a:solidFill>
            <a:srgbClr val="C7CEDE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2752344"/>
            <a:ext cx="1049274" cy="201168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542032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+0.270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638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383280"/>
            <a:ext cx="3108960" cy="18288"/>
          </a:xfrm>
          <a:prstGeom prst="rect">
            <a:avLst/>
          </a:prstGeom>
          <a:solidFill>
            <a:srgbClr val="C7CED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3374136"/>
            <a:ext cx="15545" cy="201168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163824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78561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Capital Employed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4005072"/>
            <a:ext cx="3108960" cy="18288"/>
          </a:xfrm>
          <a:prstGeom prst="rect">
            <a:avLst/>
          </a:prstGeom>
          <a:solidFill>
            <a:srgbClr val="C7CEDE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5314" y="3995928"/>
            <a:ext cx="3886" cy="201168"/>
          </a:xfrm>
          <a:prstGeom prst="rect">
            <a:avLst/>
          </a:prstGeom>
          <a:solidFill>
            <a:srgbClr val="C0524A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785616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4074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 Ratio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4626864"/>
            <a:ext cx="3108960" cy="18288"/>
          </a:xfrm>
          <a:prstGeom prst="rect">
            <a:avLst/>
          </a:prstGeom>
          <a:solidFill>
            <a:srgbClr val="C7CEDE"/>
          </a:solidFill>
          <a:ln/>
        </p:spPr>
      </p:sp>
      <p:sp>
        <p:nvSpPr>
          <p:cNvPr id="22" name="Shape 20"/>
          <p:cNvSpPr/>
          <p:nvPr/>
        </p:nvSpPr>
        <p:spPr>
          <a:xfrm>
            <a:off x="4990338" y="4617720"/>
            <a:ext cx="38862" cy="201168"/>
          </a:xfrm>
          <a:prstGeom prst="rect">
            <a:avLst/>
          </a:prstGeom>
          <a:solidFill>
            <a:srgbClr val="C0524A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4407408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5248656"/>
            <a:ext cx="3108960" cy="18288"/>
          </a:xfrm>
          <a:prstGeom prst="rect">
            <a:avLst/>
          </a:prstGeom>
          <a:solidFill>
            <a:srgbClr val="C7CEDE"/>
          </a:solidFill>
          <a:ln/>
        </p:spPr>
      </p:sp>
      <p:sp>
        <p:nvSpPr>
          <p:cNvPr id="26" name="Shape 24"/>
          <p:cNvSpPr/>
          <p:nvPr/>
        </p:nvSpPr>
        <p:spPr>
          <a:xfrm>
            <a:off x="4967021" y="5239512"/>
            <a:ext cx="62179" cy="201168"/>
          </a:xfrm>
          <a:prstGeom prst="rect">
            <a:avLst/>
          </a:prstGeom>
          <a:solidFill>
            <a:srgbClr val="C0524A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50292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86800" y="1874520"/>
            <a:ext cx="2926080" cy="420624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B93A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1540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915400" y="251460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shows only a mild link to profitability (PAT, market cap) and essentially none to ROE, ROCE, interest coverage, or liquidity.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ratio alone is not a reliable standalone predictor of financial health in this sample — reinforcing the case for multi-factor, non-linear models.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Predictive Stock Analysis  •  Portfolio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models spanning classical statistics to gradient-boosted ensembles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B93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53492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&amp; Penalized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Linear Regression — baseline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— L2 penalty, curbs overfitting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 — L1 penalty, feature selection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— combined L1 + L2 penalty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B93A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965960"/>
            <a:ext cx="5349240" cy="59436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6596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 &amp; Ensemble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83464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Regressor (neural network)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rigor: hyperparameters tuned via GridSearchCV (3–5 fold CV); scaling applied to linear/MLP models; feature engineering included ROCE capping and a composite efficiency score; residuals checked for homoscedasticity and normality.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Predictive Stock Analysis  •  Portfolio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Performance: R²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substantially outperform linear approaches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2880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82880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20574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21040" y="251460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leads at R² = 0.225, RMSE 6.05, MAE 4.80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Penalized linear models barely beat R² = 0.05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OLS is negative (R² = −0.085) — worse than predicting the mean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capture non-linear interactions linear models miss entirely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Predictive Stock Analysis  •  Portfolio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288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828800"/>
            <a:ext cx="3931920" cy="457200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B93A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474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capitalization, ROCE, ROA, and debt-to-equity dominate the model — together accounting for over 80% of predictive weight.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and turnover measures contribute less individually, but may still interact synergistically with the top drivers.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centered near zero and roughly normal, confirming the model is reasonably well-calibrated and not systematically biased.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Predictive Stock Analysis  •  Portfolio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Ranking: Top Stocks to Watch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prediction on the latest snapshot per company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Ventura Textiles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94760" y="1977390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7" name="Shape 5"/>
          <p:cNvSpPr/>
          <p:nvPr/>
        </p:nvSpPr>
        <p:spPr>
          <a:xfrm>
            <a:off x="3794760" y="1977390"/>
            <a:ext cx="4572000" cy="219456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8" name="Text 6"/>
          <p:cNvSpPr/>
          <p:nvPr/>
        </p:nvSpPr>
        <p:spPr>
          <a:xfrm>
            <a:off x="8476488" y="1874520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9.31%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99716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299716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Rajkot Inv. Trust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94760" y="2402586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794760" y="2402586"/>
            <a:ext cx="4306814" cy="219456"/>
          </a:xfrm>
          <a:prstGeom prst="rect">
            <a:avLst/>
          </a:prstGeom>
          <a:solidFill>
            <a:srgbClr val="5A6BC0"/>
          </a:solidFill>
          <a:ln/>
        </p:spPr>
      </p:sp>
      <p:sp>
        <p:nvSpPr>
          <p:cNvPr id="13" name="Text 11"/>
          <p:cNvSpPr/>
          <p:nvPr/>
        </p:nvSpPr>
        <p:spPr>
          <a:xfrm>
            <a:off x="8476488" y="2299716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8.77%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724912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24912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Textiles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94760" y="2827782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2827782"/>
            <a:ext cx="4267527" cy="219456"/>
          </a:xfrm>
          <a:prstGeom prst="rect">
            <a:avLst/>
          </a:prstGeom>
          <a:solidFill>
            <a:srgbClr val="5A6BC0"/>
          </a:solidFill>
          <a:ln/>
        </p:spPr>
      </p:sp>
      <p:sp>
        <p:nvSpPr>
          <p:cNvPr id="18" name="Text 16"/>
          <p:cNvSpPr/>
          <p:nvPr/>
        </p:nvSpPr>
        <p:spPr>
          <a:xfrm>
            <a:off x="8476488" y="2724912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8.69%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150108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150108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OTCO Intl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794760" y="3252978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22" name="Shape 20"/>
          <p:cNvSpPr/>
          <p:nvPr/>
        </p:nvSpPr>
        <p:spPr>
          <a:xfrm>
            <a:off x="3794760" y="3252978"/>
            <a:ext cx="4257706" cy="219456"/>
          </a:xfrm>
          <a:prstGeom prst="rect">
            <a:avLst/>
          </a:prstGeom>
          <a:solidFill>
            <a:srgbClr val="5A6BC0"/>
          </a:solidFill>
          <a:ln/>
        </p:spPr>
      </p:sp>
      <p:sp>
        <p:nvSpPr>
          <p:cNvPr id="23" name="Text 21"/>
          <p:cNvSpPr/>
          <p:nvPr/>
        </p:nvSpPr>
        <p:spPr>
          <a:xfrm>
            <a:off x="8476488" y="3150108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8.67%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575304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575304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Z Leasing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794760" y="3678174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27" name="Shape 25"/>
          <p:cNvSpPr/>
          <p:nvPr/>
        </p:nvSpPr>
        <p:spPr>
          <a:xfrm>
            <a:off x="3794760" y="3678174"/>
            <a:ext cx="3786264" cy="219456"/>
          </a:xfrm>
          <a:prstGeom prst="rect">
            <a:avLst/>
          </a:prstGeom>
          <a:solidFill>
            <a:srgbClr val="5A6BC0"/>
          </a:solidFill>
          <a:ln/>
        </p:spPr>
      </p:sp>
      <p:sp>
        <p:nvSpPr>
          <p:cNvPr id="28" name="Text 26"/>
          <p:cNvSpPr/>
          <p:nvPr/>
        </p:nvSpPr>
        <p:spPr>
          <a:xfrm>
            <a:off x="8476488" y="3575304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7.71%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000500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000500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Alstone Textiles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794760" y="4103370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32" name="Shape 30"/>
          <p:cNvSpPr/>
          <p:nvPr/>
        </p:nvSpPr>
        <p:spPr>
          <a:xfrm>
            <a:off x="3794760" y="4103370"/>
            <a:ext cx="3771532" cy="219456"/>
          </a:xfrm>
          <a:prstGeom prst="rect">
            <a:avLst/>
          </a:prstGeom>
          <a:solidFill>
            <a:srgbClr val="5A6BC0"/>
          </a:solidFill>
          <a:ln/>
        </p:spPr>
      </p:sp>
      <p:sp>
        <p:nvSpPr>
          <p:cNvPr id="33" name="Text 31"/>
          <p:cNvSpPr/>
          <p:nvPr/>
        </p:nvSpPr>
        <p:spPr>
          <a:xfrm>
            <a:off x="8476488" y="4000500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425696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4425696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Quasar India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794760" y="4528566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37" name="Shape 35"/>
          <p:cNvSpPr/>
          <p:nvPr/>
        </p:nvSpPr>
        <p:spPr>
          <a:xfrm>
            <a:off x="3794760" y="4528566"/>
            <a:ext cx="3727334" cy="219456"/>
          </a:xfrm>
          <a:prstGeom prst="rect">
            <a:avLst/>
          </a:prstGeom>
          <a:solidFill>
            <a:srgbClr val="5A6BC0"/>
          </a:solidFill>
          <a:ln/>
        </p:spPr>
      </p:sp>
      <p:sp>
        <p:nvSpPr>
          <p:cNvPr id="38" name="Text 36"/>
          <p:cNvSpPr/>
          <p:nvPr/>
        </p:nvSpPr>
        <p:spPr>
          <a:xfrm>
            <a:off x="8476488" y="4425696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7.59%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850892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" y="4850892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Alfavision Overs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794760" y="4953762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42" name="Shape 40"/>
          <p:cNvSpPr/>
          <p:nvPr/>
        </p:nvSpPr>
        <p:spPr>
          <a:xfrm>
            <a:off x="3794760" y="4953762"/>
            <a:ext cx="3658582" cy="219456"/>
          </a:xfrm>
          <a:prstGeom prst="rect">
            <a:avLst/>
          </a:prstGeom>
          <a:solidFill>
            <a:srgbClr val="5A6BC0"/>
          </a:solidFill>
          <a:ln/>
        </p:spPr>
      </p:sp>
      <p:sp>
        <p:nvSpPr>
          <p:cNvPr id="43" name="Text 41"/>
          <p:cNvSpPr/>
          <p:nvPr/>
        </p:nvSpPr>
        <p:spPr>
          <a:xfrm>
            <a:off x="8476488" y="4850892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7.45%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5276088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0120" y="5276088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Suryavanshi Spg.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794760" y="5378958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47" name="Shape 45"/>
          <p:cNvSpPr/>
          <p:nvPr/>
        </p:nvSpPr>
        <p:spPr>
          <a:xfrm>
            <a:off x="3794760" y="5378958"/>
            <a:ext cx="3624206" cy="219456"/>
          </a:xfrm>
          <a:prstGeom prst="rect">
            <a:avLst/>
          </a:prstGeom>
          <a:solidFill>
            <a:srgbClr val="5A6BC0"/>
          </a:solidFill>
          <a:ln/>
        </p:spPr>
      </p:sp>
      <p:sp>
        <p:nvSpPr>
          <p:cNvPr id="48" name="Text 46"/>
          <p:cNvSpPr/>
          <p:nvPr/>
        </p:nvSpPr>
        <p:spPr>
          <a:xfrm>
            <a:off x="8476488" y="5276088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7.38%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5701284"/>
            <a:ext cx="3657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60120" y="5701284"/>
            <a:ext cx="274320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IndiaNivesh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3794760" y="5804154"/>
            <a:ext cx="4572000" cy="219456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52" name="Shape 50"/>
          <p:cNvSpPr/>
          <p:nvPr/>
        </p:nvSpPr>
        <p:spPr>
          <a:xfrm>
            <a:off x="3794760" y="5804154"/>
            <a:ext cx="3619295" cy="219456"/>
          </a:xfrm>
          <a:prstGeom prst="rect">
            <a:avLst/>
          </a:prstGeom>
          <a:solidFill>
            <a:srgbClr val="5A6BC0"/>
          </a:solidFill>
          <a:ln/>
        </p:spPr>
      </p:sp>
      <p:sp>
        <p:nvSpPr>
          <p:cNvPr id="53" name="Text 51"/>
          <p:cNvSpPr/>
          <p:nvPr/>
        </p:nvSpPr>
        <p:spPr>
          <a:xfrm>
            <a:off x="8476488" y="5701284"/>
            <a:ext cx="822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7.37%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794760" y="6172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quarterly price change (%)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189720" y="1874520"/>
            <a:ext cx="2423160" cy="4279392"/>
          </a:xfrm>
          <a:prstGeom prst="roundRect">
            <a:avLst>
              <a:gd name="adj" fmla="val 3396"/>
            </a:avLst>
          </a:prstGeom>
          <a:solidFill>
            <a:srgbClr val="1E2761"/>
          </a:solidFill>
          <a:ln/>
        </p:spPr>
      </p:sp>
      <p:sp>
        <p:nvSpPr>
          <p:cNvPr id="56" name="Text 54"/>
          <p:cNvSpPr/>
          <p:nvPr/>
        </p:nvSpPr>
        <p:spPr>
          <a:xfrm>
            <a:off x="9372600" y="21031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372600" y="2697480"/>
            <a:ext cx="2057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shortlist for further due diligence — not a buy signal on its own. Model R² of 0.225 means real-world variance remains high.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Predictive Stock Analysis  •  Portfolio Project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model output into an ongoing investment workflow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187452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companies with high market capitalization, ROCE, and ROA — the model's strongest signals.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457200" cy="45720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RF for shortlisting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715768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Random Forest predictions each quarter to generate a ranked watchlist for deeper review.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5701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macro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557016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feature set with inflation, interest rates, and global index data to capture market-wide effects.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457200" cy="45720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39826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sequential models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4398264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LSTM / RNN architectures to model time-series dependencies the current snapshot approach misses.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23951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quarterly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5239512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updated data every quarter to keep relevance as market conditions and fundamentals shift.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Predictive Stock Analysis  •  Portfolio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complete, multi-layered analytics workflow — exploratory analysis, statistical modeling, machine learning, and predictive ranking — applied to real financial data. Tree-based ensembles, especially Random Forest, delivered the most reliable predictions, while linear models offered interpretable baselines. Together, they surface the key financial drivers of stock performance and a ranked shortlist for further research.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Pandas / NumPy • scikit-learn • XGBoost • Matplotlib / Seaborn • Jupyter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525780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1FA97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257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code &amp; notebook on 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2026-08-16T21:05:31Z</dcterms:created>
  <dcterms:modified xsi:type="dcterms:W3CDTF">2026-08-16T21:05:31Z</dcterms:modified>
</cp:coreProperties>
</file>